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tema: preparar datos reales de tráfico + clima para dejarlos listos para modelos predictivos. Enfatizar que la calidad de datos es el foco del proyecto.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pregunta de investigación guía todo el artículo. Recalcar el doble eje: clima+tiempo como predictores, y calidad de datos como condición.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Cumple los mínimos de la rúbrica: &gt;1000 filas, &gt;=8 columnas, mezcla de tipos. No es didáctico (datos reales de sensores).</a:t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son los retos reales que exige la rúbrica. Cada uno se trata en la fase correspondiente (III o IV).</a:t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Fases estrictamente secuenciales: una mala preparación inicial invalida el resto. Recalcar que TODO es reproducible en el notebook.</a:t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por qué el IQR NO sirve para rain_1h (cero-inflada): marcaría lluvia real como atípica. Esto demuestra justificación, no aplicación mecánica.</a:t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Cifra estrella: la curtosis de rain_1h cae un 97 %. La temperatura pasa de muy sesgada a casi normal. Evidencia cuantitativa del impacto del pipeline.</a:t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correlación de Spearman del dataset procesado. Punto clave para la defensa: el tiempo (hora) domina sobre el clima como predictor.</a:t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Cerrar con el impacto: datos listos para ML. Mencionar limitaciones muestra rigor (la rúbrica lo premia).</a:t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Repartir estos puntos entre los integrantes. Cada quien debe poder explicar SU bloque con seguridad.</a:t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13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8871E"/>
                </a:solidFill>
                <a:latin typeface="Calibri"/>
                <a:ea typeface="Calibri"/>
                <a:cs typeface="Calibri"/>
                <a:sym typeface="Calibri"/>
              </a:rPr>
              <a:t>ANÁLISIS Y PREPARACIÓN DE 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1874520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Predicción del Volumen de Tráfico Vehicular a partir de Variables Meteorológicas y Temporales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402336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Dataset: Metro Interstate Traffic Volume (UCI)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Asignatura: Análisis de Datos  ·  Facultad de Ingeniería — UEES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Integrante 1 · Integrante 2 · Integrante 3 · Integrante 4 · Integrante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48640" y="1280160"/>
            <a:ext cx="6400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La congestión vehicular impacta la movilidad, la economía y el medio ambiente.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Los sistemas de transporte inteligente dependen de modelos predictivos…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…y esos modelos solo son tan buenos como los datos que los alimentan.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Los datos de sensores reales traen nulos, errores de medición y escalas dispares.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315200" y="1371600"/>
            <a:ext cx="4297680" cy="4206240"/>
          </a:xfrm>
          <a:prstGeom prst="roundRect">
            <a:avLst>
              <a:gd fmla="val 2609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7589520" y="16459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Pregunta de investigación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7589520" y="2148840"/>
            <a:ext cx="3749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2100"/>
              <a:buFont typeface="Cambria"/>
              <a:buNone/>
            </a:pPr>
            <a:r>
              <a:rPr b="0" i="1" lang="en-US" sz="21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¿Cómo influyen las condiciones meteorológicas y los patrones temporales en el volumen de tráfico, y qué impacto tiene la calidad de los datos sobre esa relación?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El dataset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Metro Interstate Traffic Volume — tráfico horario de la I-94 (Minneapolis) cruzado con clima (MnDOT + OpenWeatherMap, 2012–2018).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48640" y="2103120"/>
            <a:ext cx="2560320" cy="1828800"/>
          </a:xfrm>
          <a:prstGeom prst="roundRect">
            <a:avLst>
              <a:gd fmla="val 5000" name="adj"/>
            </a:avLst>
          </a:prstGeom>
          <a:solidFill>
            <a:srgbClr val="0E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548640" y="2377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48 204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observaciones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337560" y="2103120"/>
            <a:ext cx="2560320" cy="1828800"/>
          </a:xfrm>
          <a:prstGeom prst="roundRect">
            <a:avLst>
              <a:gd fmla="val 5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3337560" y="2377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33756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126480" y="2103120"/>
            <a:ext cx="2560320" cy="1828800"/>
          </a:xfrm>
          <a:prstGeom prst="roundRect">
            <a:avLst>
              <a:gd fmla="val 5000" name="adj"/>
            </a:avLst>
          </a:prstGeom>
          <a:solidFill>
            <a:srgbClr val="0E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 txBox="1"/>
          <p:nvPr/>
        </p:nvSpPr>
        <p:spPr>
          <a:xfrm>
            <a:off x="6126480" y="2377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 num + 3 cat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+ 1 temporal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915400" y="2103120"/>
            <a:ext cx="2560320" cy="1828800"/>
          </a:xfrm>
          <a:prstGeom prst="roundRect">
            <a:avLst>
              <a:gd fmla="val 500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/>
        </p:nvSpPr>
        <p:spPr>
          <a:xfrm>
            <a:off x="8915400" y="2377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2012–2018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8915400" y="320040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rango temporal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Numéricas: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temp, rain_1h, snow_1h, clouds_all, traffic_volume (objetivo).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Categóricas: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holiday, weather_main, weather_description (texto).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Temporal: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date_time (base para variables derivadas).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Diagnóstico de calidad inicial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48640" y="1371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777240" y="1627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1188720" y="1572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Nulos estructurales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777240" y="2240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holiday: 99,87 % vacío (solo marca la hora del feriado)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251960" y="1371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4480560" y="1627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4892040" y="1572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Outlier de temperatura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4480560" y="2240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10 filas con temp = 0 K (sensor roto)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955280" y="1371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183880" y="1627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8595360" y="1572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Outlier de precipitación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8183880" y="2240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rain_1h = 9 831 mm/h (físicamente imposible)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777240" y="3913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1188720" y="3858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Duplicados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777240" y="4526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17 exactos + 7 629 por marca temporal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251960" y="3657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480560" y="3913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4892040" y="3858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Inconsistencia textual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4480560" y="4526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weather_description: 38 categorías solapadas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7955280" y="3657600"/>
            <a:ext cx="3474720" cy="2011680"/>
          </a:xfrm>
          <a:prstGeom prst="roundRect">
            <a:avLst>
              <a:gd fmla="val 4545" name="adj"/>
            </a:avLst>
          </a:prstGeom>
          <a:solidFill>
            <a:srgbClr val="EEF3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183880" y="3913632"/>
            <a:ext cx="292608" cy="292608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8595360" y="385876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Escalas heterogéneas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8183880" y="4526280"/>
            <a:ext cx="3063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temp, clouds, traffic y rain en rangos muy distintos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13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Metodología: pipeline en 5 fases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1325880" y="128016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 y perfilado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4754880" y="128016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Tipos, cardinalidad, matriz de nulos, diccionario de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40080" y="2313432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640080" y="23134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1325880" y="226771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exploratorio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4754880" y="2267712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Distribuciones, boxplots, correlaciones Pearson/Spearman.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III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1325880" y="3255264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4754880" y="3255264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Nulos, outliers (físico + Z-Score/IQR), duplicados, texto, fechas.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1325880" y="4242816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4754880" y="4242816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Features derivadas, One-Hot (drop_first), escalado Robust+Standard.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40080" y="5276088"/>
            <a:ext cx="502920" cy="502920"/>
          </a:xfrm>
          <a:prstGeom prst="ellipse">
            <a:avLst/>
          </a:prstGeom>
          <a:solidFill>
            <a:srgbClr val="E887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 txBox="1"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325880" y="5230368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Auditoría pre/post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4754880" y="5230368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Media, desv., asimetría y curtosis antes vs. después.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Limpieza: tratamiento de outliers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548640" y="1234440"/>
            <a:ext cx="49377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Criterio físico </a:t>
            </a:r>
            <a:r>
              <a:rPr b="0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para errores imposibles (temp 0 K, lluvia 9 831 mm).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Z-Score e IQR </a:t>
            </a:r>
            <a:r>
              <a:rPr b="0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como verificación estadística.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holiday </a:t>
            </a:r>
            <a:r>
              <a:rPr b="0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→ categoría 'None' (no borrar ni imputar a ciegas).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2212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En variables cero-infladas el IQR no aplica → prima el criterio físico.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Jonny Quintanilla/Desktop/Data Analisis/Proyecto_IEEE/figs/fig_pre_post_boxplots.png" id="114" name="Google Shape;1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463040"/>
            <a:ext cx="5943600" cy="212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/>
          <p:nvPr/>
        </p:nvSpPr>
        <p:spPr>
          <a:xfrm>
            <a:off x="5669280" y="3657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Boxplots: los outliers extremos (izq.) desaparecen tras la limpieza (der.).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Resultados: auditoría pre / post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48640" y="1280160"/>
            <a:ext cx="4846320" cy="1051560"/>
          </a:xfrm>
          <a:prstGeom prst="roundRect">
            <a:avLst>
              <a:gd fmla="val 8696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548640" y="133502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219,4  →  28,6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548640" y="188366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Asimetría rain_1h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48640" y="2514600"/>
            <a:ext cx="4846320" cy="1051560"/>
          </a:xfrm>
          <a:prstGeom prst="roundRect">
            <a:avLst>
              <a:gd fmla="val 8696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 txBox="1"/>
          <p:nvPr/>
        </p:nvSpPr>
        <p:spPr>
          <a:xfrm>
            <a:off x="548640" y="256946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48 156  →  1 322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548640" y="31181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Curtosis rain_1h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48640" y="3749040"/>
            <a:ext cx="4846320" cy="1051560"/>
          </a:xfrm>
          <a:prstGeom prst="roundRect">
            <a:avLst>
              <a:gd fmla="val 8696" name="adj"/>
            </a:avLst>
          </a:prstGeom>
          <a:solidFill>
            <a:srgbClr val="0E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548640" y="38039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−2,25  →  −0,38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548640" y="43525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EF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EF4"/>
                </a:solidFill>
                <a:latin typeface="Calibri"/>
                <a:ea typeface="Calibri"/>
                <a:cs typeface="Calibri"/>
                <a:sym typeface="Calibri"/>
              </a:rPr>
              <a:t>Asimetría temp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Jonny Quintanilla/Desktop/Data Analisis/Proyecto_IEEE/figs/fig_pre_post_distribuciones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280160"/>
            <a:ext cx="5943600" cy="38221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3616E"/>
                </a:solidFill>
                <a:latin typeface="Calibri"/>
                <a:ea typeface="Calibri"/>
                <a:cs typeface="Calibri"/>
                <a:sym typeface="Calibri"/>
              </a:rPr>
              <a:t>La corrección de outliers normaliza las distribuciones y reduce el ruido extremo.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Hallazgos del análisis exploratorio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548640" y="1234440"/>
            <a:ext cx="57607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El tráfico es bimodal por hora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(picos ~07:00 y ~16:00) → variable hora_pico.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La hora predice mejor que el clima: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Spearman hora–tráfico 0,33 vs. temp–tráfico 0,14.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Pearson vs. Spearman: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Pearson se distorsiona con outliers → justifica escalado robusto.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221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7 variables derivadas </a:t>
            </a:r>
            <a:r>
              <a:rPr b="0" i="0" lang="en-US" sz="16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con valor analítico (temporales, estación, temp_c).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Jonny Quintanilla/Desktop/Data Analisis/Proyecto_IEEE/figs/fig_correlacion_final.png"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5120" y="1371600"/>
            <a:ext cx="4846320" cy="415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2212E"/>
                </a:solidFill>
                <a:latin typeface="Cambria"/>
                <a:ea typeface="Cambria"/>
                <a:cs typeface="Cambria"/>
                <a:sym typeface="Cambria"/>
              </a:rPr>
              <a:t>Conclusiones y trabajo futuro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548640" y="1371600"/>
            <a:ext cx="110642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2212E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Pipeline reproducible con justificación cuantitativa y sin fuga de datos.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2212E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Dataset final: 40 575 filas × 16 variables, sin nulos ni outliers imposibles.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2212E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Se preservó el 84 % de las observaciones (señal) eliminando el ruido.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2212E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Limitación: asimetría residual en precipitación → explorar transformación log.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2212E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212E"/>
                </a:solidFill>
                <a:latin typeface="Calibri"/>
                <a:ea typeface="Calibri"/>
                <a:cs typeface="Calibri"/>
                <a:sym typeface="Calibri"/>
              </a:rPr>
              <a:t>Trabajo futuro: entrenar modelos de regresión y evaluar importancia de variables.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13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Puntos clave para la defensa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 txBox="1"/>
          <p:nvPr/>
        </p:nvSpPr>
        <p:spPr>
          <a:xfrm>
            <a:off x="640080" y="1463040"/>
            <a:ext cx="108813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 qué no borramos los nulos de holiday (patrón estructural, no aleatorio).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 qué el IQR no aplica a rain_1h y usamos criterio físico.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 qué RobustScaler para colas pesadas y StandardScaler para el resto.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Cómo evitamos el data leakage (split antes de ajustar scaler/encoder).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Por qué drop_first evita la trampa de las variables ficticias.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871E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871E"/>
                </a:solidFill>
                <a:latin typeface="Cambria"/>
                <a:ea typeface="Cambria"/>
                <a:cs typeface="Cambria"/>
                <a:sym typeface="Cambria"/>
              </a:rPr>
              <a:t>Gracias — ¿Preguntas?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